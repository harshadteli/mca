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5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12192000" cy="6858000"/>
  <p:notesSz cx="6858000" cy="12192000"/>
  <p:embeddedFontLst>
    <p:embeddedFont>
      <p:font typeface="Inter"/>
      <p:regular r:id="rId8"/>
      <p:bold r:id="rId8"/>
    </p:embeddedFont>
    <p:embeddedFont>
      <p:font typeface="Inter SemiBold"/>
      <p:regular r:id="rId9"/>
    </p:embeddedFont>
    <p:embeddedFont>
      <p:font typeface="Space Grotesk Bold"/>
    </p:embeddedFont>
    <p:embeddedFont>
      <p:font typeface="+mn-lt"/>
    </p:embeddedFont>
    <p:embeddedFont>
      <p:font typeface="+mn-ea"/>
    </p:embeddedFont>
    <p:embeddedFont>
      <p:font typeface="Lucida Sans"/>
      <p:regular r:id="rId10"/>
    </p:embeddedFont>
    <p:embeddedFont>
      <p:font typeface="+mn-c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font" Target="fonts/Font_1_Inter_Regular.fntdata"/><Relationship Id="rId9" Type="http://schemas.openxmlformats.org/officeDocument/2006/relationships/font" Target="fonts/Font_2_Inter_SemiBold_Regular.fntdata"/><Relationship Id="rId10" Type="http://schemas.openxmlformats.org/officeDocument/2006/relationships/font" Target="fonts/Font_3_Lucida_Sans_Regular.fntdata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AC975F2-C768-43EC-81D6-D4FBCFF47204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5BE247-C736-4EB2-85F3-13BBD0A02F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304DA6-91C8-4E05-9DBD-FCC8457656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A51B0D-EFEE-4290-B1C5-3940BF8D465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8D22E7-1000-4354-A5C9-26D070372C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4.jpe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1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2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Image 1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Image 2" descr="preencoded.png">
            <a:hlinkClick r:id="rId4"/>
          </p:cNvPr>
          <p:cNvPicPr/>
          <p:nvPr/>
        </p:nvPicPr>
        <p:blipFill>
          <a:blip r:embed="rId5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3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Image 1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Image 2" descr="preencoded.png">
            <a:hlinkClick r:id="rId4"/>
          </p:cNvPr>
          <p:cNvPicPr/>
          <p:nvPr/>
        </p:nvPicPr>
        <p:blipFill>
          <a:blip r:embed="rId5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image" Target="../media/image8.jpeg"/><Relationship Id="rId4" Type="http://schemas.openxmlformats.org/officeDocument/2006/relationships/image" Target="../media/image9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perchance.org/ai-text-to-image-generator?utm_source=chatgpt.com" TargetMode="External"/><Relationship Id="rId2" Type="http://schemas.openxmlformats.org/officeDocument/2006/relationships/image" Target="../media/image14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6095520" cy="6857640"/>
          </a:xfrm>
          <a:prstGeom prst="roundRect">
            <a:avLst>
              <a:gd name="adj" fmla="val 3375"/>
            </a:avLst>
          </a:prstGeom>
          <a:solidFill>
            <a:srgbClr val="334A72"/>
          </a:solidFill>
          <a:ln w="6350">
            <a:solidFill>
              <a:srgbClr val="22D3EE">
                <a:alpha val="58000"/>
              </a:srgbClr>
            </a:solidFill>
            <a:round/>
          </a:ln>
          <a:effectLst>
            <a:outerShdw algn="bl" blurRad="322560" dir="5400000" dist="132120" kx="0" ky="0" rotWithShape="0" sx="100000" sy="100000">
              <a:srgbClr val="3B82F6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539640" y="539640"/>
            <a:ext cx="55558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150" b="0" u="none" spc="162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MCA-I · CLASSROOM TECHNOLOGY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539640" y="2701440"/>
            <a:ext cx="501588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6000" b="1" u="none" spc="-91" strike="noStrike">
                <a:solidFill>
                  <a:srgbClr val="F5F7FF"/>
                </a:solidFill>
                <a:effectLst/>
                <a:uFillTx/>
                <a:latin typeface="Space Grotesk Bold"/>
                <a:ea typeface="Space Grotesk Bold"/>
              </a:rPr>
              <a:t>PERCHANCE AI</a:t>
            </a:r>
            <a:endParaRPr lang="en-IN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539640" y="3584160"/>
            <a:ext cx="5015880" cy="12996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 w="0">
            <a:noFill/>
          </a:ln>
          <a:effectLst>
            <a:outerShdw algn="bl" blurRad="113040" dir="0" dist="0" kx="0" ky="0" rotWithShape="0" sx="100000" sy="100000">
              <a:srgbClr val="22D3EE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539640" y="3892320"/>
            <a:ext cx="555588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Explore the World of Free AI Image Generation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539640" y="6099120"/>
            <a:ext cx="555588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Presented By: Harshad Teli | MCA-I | Roll No: 15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" name="Image 0" descr="preencoded.png"/>
          <p:cNvPicPr/>
          <p:nvPr/>
        </p:nvPicPr>
        <p:blipFill>
          <a:blip r:embed="rId1"/>
          <a:stretch/>
        </p:blipFill>
        <p:spPr>
          <a:xfrm>
            <a:off x="6095880" y="0"/>
            <a:ext cx="6095520" cy="6857640"/>
          </a:xfrm>
          <a:prstGeom prst="rect">
            <a:avLst/>
          </a:prstGeom>
          <a:noFill/>
          <a:ln w="0">
            <a:noFill/>
          </a:ln>
        </p:spPr>
      </p:pic>
    </p:spTree>
  </p:cSld>
  <p:transition spd="med">
    <p:push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0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260"/>
                            </p:stCondLst>
                            <p:childTnLst>
                              <p:par>
                                <p:cTn id="9" presetID="23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Effect">
                            <p:stCondLst>
                              <p:cond delay="520"/>
                            </p:stCondLst>
                            <p:childTnLst>
                              <p:par>
                                <p:cTn id="14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Effect">
                            <p:stCondLst>
                              <p:cond delay="780"/>
                            </p:stCondLst>
                            <p:childTnLst>
                              <p:par>
                                <p:cTn id="18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Effect">
                            <p:stCondLst>
                              <p:cond delay="1040"/>
                            </p:stCondLst>
                            <p:childTnLst>
                              <p:par>
                                <p:cTn id="22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609480" y="838080"/>
            <a:ext cx="6400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150" b="0" u="none" spc="162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PERCHANCE AI · TEXT TO IMAGE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"/>
          <p:cNvSpPr/>
          <p:nvPr/>
        </p:nvSpPr>
        <p:spPr>
          <a:xfrm>
            <a:off x="609480" y="1158840"/>
            <a:ext cx="640044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2800" b="1" u="none" spc="-43" strike="noStrike">
                <a:solidFill>
                  <a:srgbClr val="F5F7FF"/>
                </a:solidFill>
                <a:effectLst/>
                <a:uFillTx/>
                <a:latin typeface="Space Grotesk Bold"/>
                <a:ea typeface="Space Grotesk Bold"/>
              </a:rPr>
              <a:t>What is Perchance AI?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"/>
          <p:cNvSpPr/>
          <p:nvPr/>
        </p:nvSpPr>
        <p:spPr>
          <a:xfrm>
            <a:off x="609480" y="1705680"/>
            <a:ext cx="6400440" cy="58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D8E1F2"/>
                </a:solidFill>
                <a:effectLst/>
                <a:uFillTx/>
                <a:latin typeface="Inter"/>
                <a:ea typeface="Inter"/>
              </a:rPr>
              <a:t>Online AI image-generation tool that turns text prompts into images.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3"/>
          <p:cNvSpPr/>
          <p:nvPr/>
        </p:nvSpPr>
        <p:spPr>
          <a:xfrm>
            <a:off x="609480" y="2406600"/>
            <a:ext cx="6400440" cy="12996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 w="0">
            <a:noFill/>
          </a:ln>
          <a:effectLst>
            <a:outerShdw algn="bl" blurRad="113040" dir="0" dist="0" kx="0" ky="0" rotWithShape="0" sx="100000" sy="100000">
              <a:srgbClr val="22D3EE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4"/>
          <p:cNvSpPr/>
          <p:nvPr/>
        </p:nvSpPr>
        <p:spPr>
          <a:xfrm>
            <a:off x="609480" y="2651040"/>
            <a:ext cx="6400440" cy="1249920"/>
          </a:xfrm>
          <a:prstGeom prst="roundRect">
            <a:avLst>
              <a:gd name="adj" fmla="val 16455"/>
            </a:avLst>
          </a:prstGeom>
          <a:solidFill>
            <a:srgbClr val="3B82F6">
              <a:alpha val="12000"/>
            </a:srgbClr>
          </a:solidFill>
          <a:ln w="6350">
            <a:solidFill>
              <a:srgbClr val="22D3EE">
                <a:alpha val="58000"/>
              </a:srgbClr>
            </a:solidFill>
            <a:round/>
          </a:ln>
          <a:effectLst>
            <a:outerShdw algn="bl" blurRad="322560" dir="5400000" dist="132120" kx="0" ky="0" rotWithShape="0" sx="100000" sy="100000">
              <a:srgbClr val="3B82F6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5"/>
          <p:cNvSpPr/>
          <p:nvPr/>
        </p:nvSpPr>
        <p:spPr>
          <a:xfrm>
            <a:off x="615960" y="2657520"/>
            <a:ext cx="6387480" cy="1237320"/>
          </a:xfrm>
          <a:prstGeom prst="rect">
            <a:avLst/>
          </a:prstGeom>
          <a:solidFill>
            <a:srgbClr val="070B16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6"/>
          <p:cNvSpPr/>
          <p:nvPr/>
        </p:nvSpPr>
        <p:spPr>
          <a:xfrm>
            <a:off x="844560" y="2809800"/>
            <a:ext cx="2687040" cy="321120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22D3EE"/>
            </a:solidFill>
            <a:round/>
          </a:ln>
          <a:effectLst>
            <a:outerShdw algn="bl" blurRad="113040" dir="0" dist="0" kx="0" ky="0" rotWithShape="0" sx="100000" sy="100000">
              <a:srgbClr val="22D3EE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7"/>
          <p:cNvSpPr/>
          <p:nvPr/>
        </p:nvSpPr>
        <p:spPr>
          <a:xfrm>
            <a:off x="972720" y="2882520"/>
            <a:ext cx="304020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BROWSER-BASED GENERATOR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8"/>
          <p:cNvSpPr/>
          <p:nvPr/>
        </p:nvSpPr>
        <p:spPr>
          <a:xfrm>
            <a:off x="844560" y="3245400"/>
            <a:ext cx="593028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Explore different visual styles through a simple, beginner-friendly interface. Some generators can be used without creating an account.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" name="Image 0" descr="preencoded.png"/>
          <p:cNvPicPr/>
          <p:nvPr/>
        </p:nvPicPr>
        <p:blipFill>
          <a:blip r:embed="rId1"/>
          <a:stretch/>
        </p:blipFill>
        <p:spPr>
          <a:xfrm>
            <a:off x="7543440" y="838080"/>
            <a:ext cx="3809520" cy="306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Shape 9"/>
          <p:cNvSpPr/>
          <p:nvPr/>
        </p:nvSpPr>
        <p:spPr>
          <a:xfrm>
            <a:off x="609480" y="4307760"/>
            <a:ext cx="3453840" cy="2473560"/>
          </a:xfrm>
          <a:prstGeom prst="roundRect">
            <a:avLst>
              <a:gd name="adj" fmla="val 8316"/>
            </a:avLst>
          </a:prstGeom>
          <a:solidFill>
            <a:srgbClr val="3B82F6">
              <a:alpha val="12000"/>
            </a:srgbClr>
          </a:solidFill>
          <a:ln w="6350">
            <a:solidFill>
              <a:srgbClr val="22D3EE">
                <a:alpha val="58000"/>
              </a:srgbClr>
            </a:solidFill>
            <a:round/>
          </a:ln>
          <a:effectLst>
            <a:outerShdw algn="bl" blurRad="322560" dir="5400000" dist="132120" kx="0" ky="0" rotWithShape="0" sx="100000" sy="100000">
              <a:srgbClr val="3B82F6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1" descr="preencoded.png"/>
          <p:cNvPicPr/>
          <p:nvPr/>
        </p:nvPicPr>
        <p:blipFill>
          <a:blip r:embed="rId2"/>
          <a:stretch/>
        </p:blipFill>
        <p:spPr>
          <a:xfrm>
            <a:off x="717480" y="4415760"/>
            <a:ext cx="3238200" cy="183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Shape 10"/>
          <p:cNvSpPr/>
          <p:nvPr/>
        </p:nvSpPr>
        <p:spPr>
          <a:xfrm>
            <a:off x="717480" y="6365160"/>
            <a:ext cx="1631520" cy="308160"/>
          </a:xfrm>
          <a:prstGeom prst="roundRect">
            <a:avLst>
              <a:gd name="adj" fmla="val 47397"/>
            </a:avLst>
          </a:prstGeom>
          <a:solidFill>
            <a:srgbClr val="031E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1"/>
          <p:cNvSpPr/>
          <p:nvPr/>
        </p:nvSpPr>
        <p:spPr>
          <a:xfrm>
            <a:off x="839520" y="6431760"/>
            <a:ext cx="199728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8E1F2"/>
                </a:solidFill>
                <a:effectLst/>
                <a:uFillTx/>
                <a:latin typeface="Inter"/>
                <a:ea typeface="Inter"/>
              </a:rPr>
              <a:t>FUTURISTIC CITY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2"/>
          <p:cNvSpPr/>
          <p:nvPr/>
        </p:nvSpPr>
        <p:spPr>
          <a:xfrm>
            <a:off x="4368600" y="4307760"/>
            <a:ext cx="3453840" cy="2473560"/>
          </a:xfrm>
          <a:prstGeom prst="roundRect">
            <a:avLst>
              <a:gd name="adj" fmla="val 8316"/>
            </a:avLst>
          </a:prstGeom>
          <a:solidFill>
            <a:srgbClr val="3B82F6">
              <a:alpha val="12000"/>
            </a:srgbClr>
          </a:solidFill>
          <a:ln w="6350">
            <a:solidFill>
              <a:srgbClr val="22D3EE">
                <a:alpha val="58000"/>
              </a:srgbClr>
            </a:solidFill>
            <a:round/>
          </a:ln>
          <a:effectLst>
            <a:outerShdw algn="bl" blurRad="322560" dir="5400000" dist="132120" kx="0" ky="0" rotWithShape="0" sx="100000" sy="100000">
              <a:srgbClr val="3B82F6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2" descr="preencoded.png"/>
          <p:cNvPicPr/>
          <p:nvPr/>
        </p:nvPicPr>
        <p:blipFill>
          <a:blip r:embed="rId3"/>
          <a:stretch/>
        </p:blipFill>
        <p:spPr>
          <a:xfrm>
            <a:off x="4476600" y="4415760"/>
            <a:ext cx="3238200" cy="183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Shape 13"/>
          <p:cNvSpPr/>
          <p:nvPr/>
        </p:nvSpPr>
        <p:spPr>
          <a:xfrm>
            <a:off x="4476600" y="6365160"/>
            <a:ext cx="1999800" cy="308160"/>
          </a:xfrm>
          <a:prstGeom prst="roundRect">
            <a:avLst>
              <a:gd name="adj" fmla="val 47397"/>
            </a:avLst>
          </a:prstGeom>
          <a:solidFill>
            <a:srgbClr val="031E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4"/>
          <p:cNvSpPr/>
          <p:nvPr/>
        </p:nvSpPr>
        <p:spPr>
          <a:xfrm>
            <a:off x="4598640" y="6431760"/>
            <a:ext cx="236556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8E1F2"/>
                </a:solidFill>
                <a:effectLst/>
                <a:uFillTx/>
                <a:latin typeface="Inter"/>
                <a:ea typeface="Inter"/>
              </a:rPr>
              <a:t>FANTASY LANDSCAPE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5"/>
          <p:cNvSpPr/>
          <p:nvPr/>
        </p:nvSpPr>
        <p:spPr>
          <a:xfrm>
            <a:off x="8127720" y="4307760"/>
            <a:ext cx="3453840" cy="2473560"/>
          </a:xfrm>
          <a:prstGeom prst="roundRect">
            <a:avLst>
              <a:gd name="adj" fmla="val 8316"/>
            </a:avLst>
          </a:prstGeom>
          <a:solidFill>
            <a:srgbClr val="3B82F6">
              <a:alpha val="12000"/>
            </a:srgbClr>
          </a:solidFill>
          <a:ln w="6350">
            <a:solidFill>
              <a:srgbClr val="22D3EE">
                <a:alpha val="58000"/>
              </a:srgbClr>
            </a:solidFill>
            <a:round/>
          </a:ln>
          <a:effectLst>
            <a:outerShdw algn="bl" blurRad="322560" dir="5400000" dist="132120" kx="0" ky="0" rotWithShape="0" sx="100000" sy="100000">
              <a:srgbClr val="3B82F6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" name="Image 3" descr="preencoded.png"/>
          <p:cNvPicPr/>
          <p:nvPr/>
        </p:nvPicPr>
        <p:blipFill>
          <a:blip r:embed="rId4"/>
          <a:stretch/>
        </p:blipFill>
        <p:spPr>
          <a:xfrm>
            <a:off x="8235720" y="4415760"/>
            <a:ext cx="3238200" cy="183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Shape 16"/>
          <p:cNvSpPr/>
          <p:nvPr/>
        </p:nvSpPr>
        <p:spPr>
          <a:xfrm>
            <a:off x="8235720" y="6365160"/>
            <a:ext cx="1066320" cy="308160"/>
          </a:xfrm>
          <a:prstGeom prst="roundRect">
            <a:avLst>
              <a:gd name="adj" fmla="val 47397"/>
            </a:avLst>
          </a:prstGeom>
          <a:solidFill>
            <a:srgbClr val="031E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7"/>
          <p:cNvSpPr/>
          <p:nvPr/>
        </p:nvSpPr>
        <p:spPr>
          <a:xfrm>
            <a:off x="8357760" y="6431760"/>
            <a:ext cx="143208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8E1F2"/>
                </a:solidFill>
                <a:effectLst/>
                <a:uFillTx/>
                <a:latin typeface="Inter"/>
                <a:ea typeface="Inter"/>
              </a:rPr>
              <a:t>3D ROBOT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med">
    <p:push dir="r"/>
  </p:transition>
  <p:timing>
    <p:tnLst>
      <p:par>
        <p:cTn id="25" dur="indefinite" restart="never" nodeType="tmRoot">
          <p:childTnLst>
            <p:seq>
              <p:cTn id="26" dur="indefinite" nodeType="mainSeq">
                <p:childTnLst>
                  <p:par>
                    <p:cTn id="27" fill="hold" nodeType="clickEffect">
                      <p:stCondLst>
                        <p:cond delay="0"/>
                      </p:stCondLst>
                      <p:childTnLst>
                        <p:par>
                          <p:cTn id="2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withEffect">
                            <p:stCondLst>
                              <p:cond delay="236"/>
                            </p:stCondLst>
                            <p:childTnLst>
                              <p:par>
                                <p:cTn id="33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withEffect">
                            <p:stCondLst>
                              <p:cond delay="472"/>
                            </p:stCondLst>
                            <p:childTnLst>
                              <p:par>
                                <p:cTn id="37" presetID="23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withEffect">
                            <p:stCondLst>
                              <p:cond delay="708"/>
                            </p:stCondLst>
                            <p:childTnLst>
                              <p:par>
                                <p:cTn id="42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4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withEffect">
                            <p:stCondLst>
                              <p:cond delay="944"/>
                            </p:stCondLst>
                            <p:childTnLst>
                              <p:par>
                                <p:cTn id="46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8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withEffect">
                            <p:stCondLst>
                              <p:cond delay="1180"/>
                            </p:stCondLst>
                            <p:childTnLst>
                              <p:par>
                                <p:cTn id="50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2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withEffect">
                            <p:stCondLst>
                              <p:cond delay="1416"/>
                            </p:stCondLst>
                            <p:childTnLst>
                              <p:par>
                                <p:cTn id="54" presetID="23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6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7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withEffect">
                            <p:stCondLst>
                              <p:cond delay="1652"/>
                            </p:stCondLst>
                            <p:childTnLst>
                              <p:par>
                                <p:cTn id="59" presetID="23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1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withEffect">
                            <p:stCondLst>
                              <p:cond delay="1888"/>
                            </p:stCondLst>
                            <p:childTnLst>
                              <p:par>
                                <p:cTn id="64" presetID="23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6" dur="6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" dur="6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withEffect">
                            <p:stCondLst>
                              <p:cond delay="2124"/>
                            </p:stCondLst>
                            <p:childTnLst>
                              <p:par>
                                <p:cTn id="69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1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withEffect">
                            <p:stCondLst>
                              <p:cond delay="2360"/>
                            </p:stCondLst>
                            <p:childTnLst>
                              <p:par>
                                <p:cTn id="73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5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withEffect">
                            <p:stCondLst>
                              <p:cond delay="2596"/>
                            </p:stCondLst>
                            <p:childTnLst>
                              <p:par>
                                <p:cTn id="77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9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457200" y="431640"/>
            <a:ext cx="11734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150" b="0" u="none" spc="162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PERCHANCE AI · FROM PROMPT TO IMAGE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457200" y="752400"/>
            <a:ext cx="1127700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2800" b="1" u="none" spc="-43" strike="noStrike">
                <a:solidFill>
                  <a:srgbClr val="F5F7FF"/>
                </a:solidFill>
                <a:effectLst/>
                <a:uFillTx/>
                <a:latin typeface="Space Grotesk Bold"/>
                <a:ea typeface="Space Grotesk Bold"/>
              </a:rPr>
              <a:t>Features &amp; Working Process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457200" y="1299240"/>
            <a:ext cx="1173420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D8E1F2"/>
                </a:solidFill>
                <a:effectLst/>
                <a:uFillTx/>
                <a:latin typeface="Inter"/>
                <a:ea typeface="Inter"/>
              </a:rPr>
              <a:t>Describe the idea, let the generator interpret it, then keep the result that works.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457200" y="1769040"/>
            <a:ext cx="11277000" cy="12996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 w="0">
            <a:noFill/>
          </a:ln>
          <a:effectLst>
            <a:outerShdw algn="bl" blurRad="113040" dir="0" dist="0" kx="0" ky="0" rotWithShape="0" sx="100000" sy="100000">
              <a:srgbClr val="22D3EE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4"/>
          <p:cNvSpPr/>
          <p:nvPr/>
        </p:nvSpPr>
        <p:spPr>
          <a:xfrm>
            <a:off x="457200" y="2127960"/>
            <a:ext cx="11277000" cy="2246760"/>
          </a:xfrm>
          <a:prstGeom prst="roundRect">
            <a:avLst>
              <a:gd name="adj" fmla="val 9156"/>
            </a:avLst>
          </a:prstGeom>
          <a:solidFill>
            <a:srgbClr val="3B82F6">
              <a:alpha val="12000"/>
            </a:srgbClr>
          </a:solidFill>
          <a:ln w="6350">
            <a:solidFill>
              <a:srgbClr val="22D3EE">
                <a:alpha val="58000"/>
              </a:srgbClr>
            </a:solidFill>
            <a:round/>
          </a:ln>
          <a:effectLst>
            <a:outerShdw algn="bl" blurRad="322560" dir="5400000" dist="132120" kx="0" ky="0" rotWithShape="0" sx="100000" sy="100000">
              <a:srgbClr val="3B82F6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463680" y="2134080"/>
            <a:ext cx="2701440" cy="2233800"/>
          </a:xfrm>
          <a:prstGeom prst="rect">
            <a:avLst/>
          </a:prstGeom>
          <a:solidFill>
            <a:srgbClr val="070B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" name="Image 0" descr="preencoded.png"/>
          <p:cNvPicPr/>
          <p:nvPr/>
        </p:nvPicPr>
        <p:blipFill>
          <a:blip r:embed="rId1"/>
          <a:stretch/>
        </p:blipFill>
        <p:spPr>
          <a:xfrm>
            <a:off x="666720" y="2413440"/>
            <a:ext cx="406080" cy="40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 6"/>
          <p:cNvSpPr/>
          <p:nvPr/>
        </p:nvSpPr>
        <p:spPr>
          <a:xfrm>
            <a:off x="666720" y="2947680"/>
            <a:ext cx="22950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1650" b="0" u="none" spc="-26" strike="noStrike">
                <a:solidFill>
                  <a:srgbClr val="FFFFFF"/>
                </a:solidFill>
                <a:effectLst/>
                <a:uFillTx/>
                <a:latin typeface="Inter SemiBold"/>
                <a:ea typeface="Inter SemiBold"/>
              </a:rPr>
              <a:t>TEXT PROMPT</a:t>
            </a:r>
            <a:endParaRPr lang="en-IN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666720" y="3299400"/>
            <a:ext cx="229500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Enter a descriptive text prompt.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8"/>
          <p:cNvSpPr/>
          <p:nvPr/>
        </p:nvSpPr>
        <p:spPr>
          <a:xfrm>
            <a:off x="3317760" y="2134080"/>
            <a:ext cx="2701440" cy="2233800"/>
          </a:xfrm>
          <a:prstGeom prst="rect">
            <a:avLst/>
          </a:prstGeom>
          <a:solidFill>
            <a:srgbClr val="070B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" name="Image 1" descr="preencoded.png"/>
          <p:cNvPicPr/>
          <p:nvPr/>
        </p:nvPicPr>
        <p:blipFill>
          <a:blip r:embed="rId2"/>
          <a:stretch/>
        </p:blipFill>
        <p:spPr>
          <a:xfrm>
            <a:off x="3521160" y="2413440"/>
            <a:ext cx="406080" cy="40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 9"/>
          <p:cNvSpPr/>
          <p:nvPr/>
        </p:nvSpPr>
        <p:spPr>
          <a:xfrm>
            <a:off x="3521160" y="2947680"/>
            <a:ext cx="22950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1650" b="0" u="none" spc="-26" strike="noStrike">
                <a:solidFill>
                  <a:srgbClr val="FFFFFF"/>
                </a:solidFill>
                <a:effectLst/>
                <a:uFillTx/>
                <a:latin typeface="Inter SemiBold"/>
                <a:ea typeface="Inter SemiBold"/>
              </a:rPr>
              <a:t>AI PROCESSING</a:t>
            </a:r>
            <a:endParaRPr lang="en-IN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0"/>
          <p:cNvSpPr/>
          <p:nvPr/>
        </p:nvSpPr>
        <p:spPr>
          <a:xfrm>
            <a:off x="3521160" y="3299400"/>
            <a:ext cx="229500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The AI interprets your words.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1"/>
          <p:cNvSpPr/>
          <p:nvPr/>
        </p:nvSpPr>
        <p:spPr>
          <a:xfrm>
            <a:off x="6172200" y="2134080"/>
            <a:ext cx="2701440" cy="2233800"/>
          </a:xfrm>
          <a:prstGeom prst="rect">
            <a:avLst/>
          </a:prstGeom>
          <a:solidFill>
            <a:srgbClr val="070B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" name="Image 2" descr="preencoded.png"/>
          <p:cNvPicPr/>
          <p:nvPr/>
        </p:nvPicPr>
        <p:blipFill>
          <a:blip r:embed="rId3"/>
          <a:stretch/>
        </p:blipFill>
        <p:spPr>
          <a:xfrm>
            <a:off x="6375240" y="2413440"/>
            <a:ext cx="406080" cy="40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 12"/>
          <p:cNvSpPr/>
          <p:nvPr/>
        </p:nvSpPr>
        <p:spPr>
          <a:xfrm>
            <a:off x="6375240" y="2947680"/>
            <a:ext cx="22950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1650" b="0" u="none" spc="-26" strike="noStrike">
                <a:solidFill>
                  <a:srgbClr val="FFFFFF"/>
                </a:solidFill>
                <a:effectLst/>
                <a:uFillTx/>
                <a:latin typeface="Inter SemiBold"/>
                <a:ea typeface="Inter SemiBold"/>
              </a:rPr>
              <a:t>GENERATED IMAGE</a:t>
            </a:r>
            <a:endParaRPr lang="en-IN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3"/>
          <p:cNvSpPr/>
          <p:nvPr/>
        </p:nvSpPr>
        <p:spPr>
          <a:xfrm>
            <a:off x="6375240" y="3299400"/>
            <a:ext cx="249840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Preview the visual result.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9026280" y="2134080"/>
            <a:ext cx="2701440" cy="2233800"/>
          </a:xfrm>
          <a:prstGeom prst="rect">
            <a:avLst/>
          </a:prstGeom>
          <a:solidFill>
            <a:srgbClr val="070B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" name="Image 3" descr="preencoded.png"/>
          <p:cNvPicPr/>
          <p:nvPr/>
        </p:nvPicPr>
        <p:blipFill>
          <a:blip r:embed="rId4"/>
          <a:stretch/>
        </p:blipFill>
        <p:spPr>
          <a:xfrm>
            <a:off x="9229320" y="2413440"/>
            <a:ext cx="406080" cy="40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 15"/>
          <p:cNvSpPr/>
          <p:nvPr/>
        </p:nvSpPr>
        <p:spPr>
          <a:xfrm>
            <a:off x="9229320" y="2947680"/>
            <a:ext cx="22950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1650" b="0" u="none" spc="-26" strike="noStrike">
                <a:solidFill>
                  <a:srgbClr val="FFFFFF"/>
                </a:solidFill>
                <a:effectLst/>
                <a:uFillTx/>
                <a:latin typeface="Inter SemiBold"/>
                <a:ea typeface="Inter SemiBold"/>
              </a:rPr>
              <a:t>DOWNLOAD</a:t>
            </a:r>
            <a:endParaRPr lang="en-IN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6"/>
          <p:cNvSpPr/>
          <p:nvPr/>
        </p:nvSpPr>
        <p:spPr>
          <a:xfrm>
            <a:off x="9229320" y="3299400"/>
            <a:ext cx="229500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Download if the option is available.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7"/>
          <p:cNvSpPr/>
          <p:nvPr/>
        </p:nvSpPr>
        <p:spPr>
          <a:xfrm>
            <a:off x="457200" y="4552560"/>
            <a:ext cx="3708000" cy="1873080"/>
          </a:xfrm>
          <a:prstGeom prst="rect">
            <a:avLst/>
          </a:prstGeom>
          <a:solidFill>
            <a:srgbClr val="111B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8"/>
          <p:cNvSpPr/>
          <p:nvPr/>
        </p:nvSpPr>
        <p:spPr>
          <a:xfrm>
            <a:off x="660240" y="4705200"/>
            <a:ext cx="35046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150" b="0" u="none" spc="162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CORE FEATURES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9"/>
          <p:cNvSpPr/>
          <p:nvPr/>
        </p:nvSpPr>
        <p:spPr>
          <a:xfrm>
            <a:off x="660240" y="5031000"/>
            <a:ext cx="3301560" cy="12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D8E1F2"/>
                </a:solidFill>
                <a:effectLst/>
                <a:uFillTx/>
                <a:latin typeface="Inter"/>
                <a:ea typeface="Inter"/>
              </a:rPr>
              <a:t>Text-to-image generation · Different creative styles · Simple browser-based interface · No-sign-up access on supported generators · Image download options</a:t>
            </a:r>
            <a:endParaRPr lang="en-IN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0"/>
          <p:cNvSpPr/>
          <p:nvPr/>
        </p:nvSpPr>
        <p:spPr>
          <a:xfrm>
            <a:off x="4317840" y="4552560"/>
            <a:ext cx="7416360" cy="1873080"/>
          </a:xfrm>
          <a:prstGeom prst="rect">
            <a:avLst/>
          </a:prstGeom>
          <a:solidFill>
            <a:srgbClr val="111B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1"/>
          <p:cNvSpPr/>
          <p:nvPr/>
        </p:nvSpPr>
        <p:spPr>
          <a:xfrm>
            <a:off x="4521240" y="4707000"/>
            <a:ext cx="721296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E1F2"/>
                </a:solidFill>
                <a:effectLst/>
                <a:uFillTx/>
                <a:latin typeface="Inter"/>
                <a:ea typeface="Inter"/>
              </a:rPr>
              <a:t>OPEN → ENTER → GENERATE → PREVIEW → DOWNLOAD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med">
    <p:push dir="r"/>
  </p:transition>
  <p:timing>
    <p:tnLst>
      <p:par>
        <p:cTn id="80" dur="indefinite" restart="never" nodeType="tmRoot">
          <p:childTnLst>
            <p:seq>
              <p:cTn id="81" dur="indefinite" nodeType="mainSeq">
                <p:childTnLst>
                  <p:par>
                    <p:cTn id="82" fill="hold" nodeType="clickEffect">
                      <p:stCondLst>
                        <p:cond delay="0"/>
                      </p:stCondLst>
                      <p:childTnLst>
                        <p:par>
                          <p:cTn id="8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6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withEffect">
                            <p:stCondLst>
                              <p:cond delay="152"/>
                            </p:stCondLst>
                            <p:childTnLst>
                              <p:par>
                                <p:cTn id="88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90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withEffect">
                            <p:stCondLst>
                              <p:cond delay="304"/>
                            </p:stCondLst>
                            <p:childTnLst>
                              <p:par>
                                <p:cTn id="92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94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withEffect">
                            <p:stCondLst>
                              <p:cond delay="456"/>
                            </p:stCondLst>
                            <p:childTnLst>
                              <p:par>
                                <p:cTn id="96" presetID="23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8" dur="6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9" dur="6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withEffect">
                            <p:stCondLst>
                              <p:cond delay="608"/>
                            </p:stCondLst>
                            <p:childTnLst>
                              <p:par>
                                <p:cTn id="101" presetID="23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3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4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withEffect">
                            <p:stCondLst>
                              <p:cond delay="760"/>
                            </p:stCondLst>
                            <p:childTnLst>
                              <p:par>
                                <p:cTn id="106" presetID="23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8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9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withEffect">
                            <p:stCondLst>
                              <p:cond delay="912"/>
                            </p:stCondLst>
                            <p:childTnLst>
                              <p:par>
                                <p:cTn id="111" presetID="23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3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4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withEffect">
                            <p:stCondLst>
                              <p:cond delay="1064"/>
                            </p:stCondLst>
                            <p:childTnLst>
                              <p:par>
                                <p:cTn id="116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18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withEffect">
                            <p:stCondLst>
                              <p:cond delay="1216"/>
                            </p:stCondLst>
                            <p:childTnLst>
                              <p:par>
                                <p:cTn id="120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2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withEffect">
                            <p:stCondLst>
                              <p:cond delay="1368"/>
                            </p:stCondLst>
                            <p:childTnLst>
                              <p:par>
                                <p:cTn id="124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6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withEffect">
                            <p:stCondLst>
                              <p:cond delay="1520"/>
                            </p:stCondLst>
                            <p:childTnLst>
                              <p:par>
                                <p:cTn id="128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0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withEffect">
                            <p:stCondLst>
                              <p:cond delay="1672"/>
                            </p:stCondLst>
                            <p:childTnLst>
                              <p:par>
                                <p:cTn id="132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4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withEffect">
                            <p:stCondLst>
                              <p:cond delay="1824"/>
                            </p:stCondLst>
                            <p:childTnLst>
                              <p:par>
                                <p:cTn id="136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8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withEffect">
                            <p:stCondLst>
                              <p:cond delay="1976"/>
                            </p:stCondLst>
                            <p:childTnLst>
                              <p:par>
                                <p:cTn id="140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42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withEffect">
                            <p:stCondLst>
                              <p:cond delay="2128"/>
                            </p:stCondLst>
                            <p:childTnLst>
                              <p:par>
                                <p:cTn id="144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46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withEffect">
                            <p:stCondLst>
                              <p:cond delay="2280"/>
                            </p:stCondLst>
                            <p:childTnLst>
                              <p:par>
                                <p:cTn id="148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0" dur="6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withEffect">
                            <p:stCondLst>
                              <p:cond delay="2432"/>
                            </p:stCondLst>
                            <p:childTnLst>
                              <p:par>
                                <p:cTn id="152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4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withEffect">
                            <p:stCondLst>
                              <p:cond delay="2584"/>
                            </p:stCondLst>
                            <p:childTnLst>
                              <p:par>
                                <p:cTn id="156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8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0" y="0"/>
            <a:ext cx="7314480" cy="6857640"/>
          </a:xfrm>
          <a:prstGeom prst="rect">
            <a:avLst/>
          </a:prstGeom>
          <a:solidFill>
            <a:srgbClr val="070B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457200" y="380880"/>
            <a:ext cx="68576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150" b="0" u="none" spc="162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PERCHANCE AI · A PRACTICAL STARTING POINT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"/>
          <p:cNvSpPr/>
          <p:nvPr/>
        </p:nvSpPr>
        <p:spPr>
          <a:xfrm>
            <a:off x="457200" y="701640"/>
            <a:ext cx="650196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2800" b="1" u="none" spc="-43" strike="noStrike">
                <a:solidFill>
                  <a:srgbClr val="F5F7FF"/>
                </a:solidFill>
                <a:effectLst/>
                <a:uFillTx/>
                <a:latin typeface="Space Grotesk Bold"/>
                <a:ea typeface="Space Grotesk Bold"/>
              </a:rPr>
              <a:t>Why Use Perchance AI?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3"/>
          <p:cNvSpPr/>
          <p:nvPr/>
        </p:nvSpPr>
        <p:spPr>
          <a:xfrm>
            <a:off x="457200" y="1245960"/>
            <a:ext cx="3174480" cy="3708720"/>
          </a:xfrm>
          <a:prstGeom prst="roundRect">
            <a:avLst>
              <a:gd name="adj" fmla="val 6480"/>
            </a:avLst>
          </a:prstGeom>
          <a:solidFill>
            <a:srgbClr val="3B82F6">
              <a:alpha val="12000"/>
            </a:srgbClr>
          </a:solidFill>
          <a:ln w="6350">
            <a:solidFill>
              <a:srgbClr val="22D3EE">
                <a:alpha val="58000"/>
              </a:srgbClr>
            </a:solidFill>
            <a:round/>
          </a:ln>
          <a:effectLst>
            <a:outerShdw algn="bl" blurRad="322560" dir="5400000" dist="132120" kx="0" ky="0" rotWithShape="0" sx="100000" sy="100000">
              <a:srgbClr val="3B82F6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4"/>
          <p:cNvSpPr/>
          <p:nvPr/>
        </p:nvSpPr>
        <p:spPr>
          <a:xfrm>
            <a:off x="692280" y="1480680"/>
            <a:ext cx="1336320" cy="321120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22D3EE"/>
            </a:solidFill>
            <a:round/>
          </a:ln>
          <a:effectLst>
            <a:outerShdw algn="bl" blurRad="113040" dir="0" dist="0" kx="0" ky="0" rotWithShape="0" sx="100000" sy="100000">
              <a:srgbClr val="22D3EE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5"/>
          <p:cNvSpPr/>
          <p:nvPr/>
        </p:nvSpPr>
        <p:spPr>
          <a:xfrm>
            <a:off x="820440" y="1553760"/>
            <a:ext cx="168984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ADVANTAGES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6"/>
          <p:cNvSpPr/>
          <p:nvPr/>
        </p:nvSpPr>
        <p:spPr>
          <a:xfrm>
            <a:off x="692280" y="1916640"/>
            <a:ext cx="2704680" cy="28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325080" indent="-325080" defTabSz="914400">
              <a:lnSpc>
                <a:spcPct val="121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Easy to use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21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Useful for creative experimentation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21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Suitable for posters, concepts, and digital artwork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21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Some generators offer access without registration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7"/>
          <p:cNvSpPr/>
          <p:nvPr/>
        </p:nvSpPr>
        <p:spPr>
          <a:xfrm>
            <a:off x="3784680" y="1245960"/>
            <a:ext cx="3174480" cy="3708720"/>
          </a:xfrm>
          <a:prstGeom prst="roundRect">
            <a:avLst>
              <a:gd name="adj" fmla="val 6480"/>
            </a:avLst>
          </a:prstGeom>
          <a:solidFill>
            <a:srgbClr val="3B82F6">
              <a:alpha val="12000"/>
            </a:srgbClr>
          </a:solidFill>
          <a:ln w="6350">
            <a:solidFill>
              <a:srgbClr val="22D3EE">
                <a:alpha val="58000"/>
              </a:srgbClr>
            </a:solidFill>
            <a:round/>
          </a:ln>
          <a:effectLst>
            <a:outerShdw algn="bl" blurRad="322560" dir="5400000" dist="132120" kx="0" ky="0" rotWithShape="0" sx="100000" sy="100000">
              <a:srgbClr val="3B82F6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8"/>
          <p:cNvSpPr/>
          <p:nvPr/>
        </p:nvSpPr>
        <p:spPr>
          <a:xfrm>
            <a:off x="4019400" y="1480680"/>
            <a:ext cx="1271160" cy="321120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22D3EE"/>
            </a:solidFill>
            <a:round/>
          </a:ln>
          <a:effectLst>
            <a:outerShdw algn="bl" blurRad="113040" dir="0" dist="0" kx="0" ky="0" rotWithShape="0" sx="100000" sy="100000">
              <a:srgbClr val="22D3EE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9"/>
          <p:cNvSpPr/>
          <p:nvPr/>
        </p:nvSpPr>
        <p:spPr>
          <a:xfrm>
            <a:off x="4147560" y="1553760"/>
            <a:ext cx="162432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LIMITATIONS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0"/>
          <p:cNvSpPr/>
          <p:nvPr/>
        </p:nvSpPr>
        <p:spPr>
          <a:xfrm>
            <a:off x="4019400" y="1916640"/>
            <a:ext cx="2704680" cy="275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325080" indent="-325080" defTabSz="914400">
              <a:lnSpc>
                <a:spcPct val="121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Image quality and generation speed may vary.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21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Available features depend on the generator.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21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Check commercial-use permissions before publishing.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1"/>
          <p:cNvSpPr/>
          <p:nvPr/>
        </p:nvSpPr>
        <p:spPr>
          <a:xfrm>
            <a:off x="457200" y="5135400"/>
            <a:ext cx="6501960" cy="58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Perchance AI makes AI-powered image creation accessible for creative ideas and visual experimentation.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2"/>
          <p:cNvSpPr/>
          <p:nvPr/>
        </p:nvSpPr>
        <p:spPr>
          <a:xfrm>
            <a:off x="457200" y="5901840"/>
            <a:ext cx="685764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Official tool: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  <a:hlinkClick r:id="rId1"/>
              </a:rPr>
              <a:t>https://perchance.org/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" name="Image 0" descr="preencoded.png"/>
          <p:cNvPicPr/>
          <p:nvPr/>
        </p:nvPicPr>
        <p:blipFill>
          <a:blip r:embed="rId2"/>
          <a:stretch/>
        </p:blipFill>
        <p:spPr>
          <a:xfrm>
            <a:off x="7314840" y="0"/>
            <a:ext cx="48762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Shape 13"/>
          <p:cNvSpPr/>
          <p:nvPr/>
        </p:nvSpPr>
        <p:spPr>
          <a:xfrm>
            <a:off x="7314840" y="0"/>
            <a:ext cx="4876200" cy="6857640"/>
          </a:xfrm>
          <a:prstGeom prst="rect">
            <a:avLst/>
          </a:prstGeom>
          <a:solidFill>
            <a:srgbClr val="000000">
              <a:alpha val="3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4"/>
          <p:cNvSpPr/>
          <p:nvPr/>
        </p:nvSpPr>
        <p:spPr>
          <a:xfrm>
            <a:off x="7543440" y="5708520"/>
            <a:ext cx="44190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4400" b="1" u="none" spc="-65" strike="noStrike">
                <a:solidFill>
                  <a:srgbClr val="F5F7FF"/>
                </a:solidFill>
                <a:effectLst/>
                <a:uFillTx/>
                <a:latin typeface="Space Grotesk Bold"/>
                <a:ea typeface="Space Grotesk Bold"/>
              </a:rPr>
              <a:t>THANK YOU!</a:t>
            </a:r>
            <a:endParaRPr lang="en-IN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5"/>
          <p:cNvSpPr/>
          <p:nvPr/>
        </p:nvSpPr>
        <p:spPr>
          <a:xfrm>
            <a:off x="7543440" y="6410520"/>
            <a:ext cx="464760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1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Presented By: Harshad Teli | MCA-I | Roll No: 15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med">
    <p:push dir="r"/>
  </p:transition>
  <p:timing>
    <p:tnLst>
      <p:par>
        <p:cTn id="159" dur="indefinite" restart="never" nodeType="tmRoot">
          <p:childTnLst>
            <p:seq>
              <p:cTn id="160" dur="indefinite" nodeType="mainSeq">
                <p:childTnLst>
                  <p:par>
                    <p:cTn id="161" fill="hold" nodeType="clickEffect">
                      <p:stCondLst>
                        <p:cond delay="0"/>
                      </p:stCondLst>
                      <p:childTnLst>
                        <p:par>
                          <p:cTn id="16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65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withEffect">
                            <p:stCondLst>
                              <p:cond delay="260"/>
                            </p:stCondLst>
                            <p:childTnLst>
                              <p:par>
                                <p:cTn id="167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9" dur="6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 nodeType="withEffect">
                            <p:stCondLst>
                              <p:cond delay="520"/>
                            </p:stCondLst>
                            <p:childTnLst>
                              <p:par>
                                <p:cTn id="171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3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 nodeType="withEffect">
                            <p:stCondLst>
                              <p:cond delay="780"/>
                            </p:stCondLst>
                            <p:childTnLst>
                              <p:par>
                                <p:cTn id="175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77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 nodeType="withEffect">
                            <p:stCondLst>
                              <p:cond delay="1040"/>
                            </p:stCondLst>
                            <p:childTnLst>
                              <p:par>
                                <p:cTn id="179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1" dur="6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 nodeType="withEffect">
                            <p:stCondLst>
                              <p:cond delay="1300"/>
                            </p:stCondLst>
                            <p:childTnLst>
                              <p:par>
                                <p:cTn id="183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5" dur="6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withEffect">
                            <p:stCondLst>
                              <p:cond delay="1560"/>
                            </p:stCondLst>
                            <p:childTnLst>
                              <p:par>
                                <p:cTn id="187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9" dur="6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 nodeType="withEffect">
                            <p:stCondLst>
                              <p:cond delay="1820"/>
                            </p:stCondLst>
                            <p:childTnLst>
                              <p:par>
                                <p:cTn id="191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93" dur="6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withEffect">
                            <p:stCondLst>
                              <p:cond delay="2080"/>
                            </p:stCondLst>
                            <p:childTnLst>
                              <p:par>
                                <p:cTn id="195" presetID="23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7" dur="6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8" dur="6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withEffect">
                            <p:stCondLst>
                              <p:cond delay="2340"/>
                            </p:stCondLst>
                            <p:childTnLst>
                              <p:par>
                                <p:cTn id="200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2" dur="6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withEffect">
                            <p:stCondLst>
                              <p:cond delay="2600"/>
                            </p:stCondLst>
                            <p:childTnLst>
                              <p:par>
                                <p:cTn id="204" presetID="22" presetClass="entr" fill="hold" nodeType="with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6" dur="6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LibreOffice/26.2.6.2$Windows_X86_64 LibreOffice_project/ad5cf9fd4989cacf0bca866ebefc0ec8926cb0b2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2026-10-15T14:04:43Z</dcterms:created>
  <dc:creator/>
  <dc:description/>
  <dc:language>en-IN</dc:language>
  <cp:lastModifiedBy/>
  <dcterms:modified xsi:type="dcterms:W3CDTF">2026-10-15T20:26:58Z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On-screen Show (16:9)</vt:lpwstr>
  </property>
  <property fmtid="{D5CDD505-2E9C-101B-9397-08002B2CF9AE}" pid="4" name="Slides">
    <vt:i4>4</vt:i4>
  </property>
</Properties>
</file>