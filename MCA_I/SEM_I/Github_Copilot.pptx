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1695" cy="6858000"/>
  <p:notesSz cx="6858000" cy="12191695"/>
  <p:embeddedFontLst>
    <p:embeddedFont>
      <p:font typeface="Krona One"/>
      <p:regular r:id="rId201314"/>
    </p:embeddedFont>
    <p:embeddedFont>
      <p:font typeface="Lexend"/>
      <p:regular r:id="rId201315"/>
    </p:embeddedFont>
    <p:embeddedFont>
      <p:font typeface="Lexend Medium"/>
      <p:regular r:id="rId201316"/>
    </p:embeddedFont>
    <p:embeddedFont>
      <p:font typeface="Lexend Bold"/>
      <p:regular r:id="rId201317"/>
    </p:embeddedFont>
    <p:embeddedFont>
      <p:font typeface="Martian Mono Medium"/>
      <p:regular r:id="rId201318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2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1515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2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bg>
      <p:bgPr>
        <a:solidFill>
          <a:srgbClr val="1515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7380" y="1498600"/>
            <a:ext cx="6426039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spc="78" kern="100" dirty="0">
                <a:solidFill>
                  <a:srgbClr val="FFFFFF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-120"/>
              </a:rPr>
              <a:t>GITHUB COPILOT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87380" y="1820466"/>
            <a:ext cx="5816454" cy="10971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4000" spc="-40" kern="100" dirty="0">
                <a:solidFill>
                  <a:srgbClr val="FFFFFF"/>
                </a:solidFill>
                <a:latin typeface="Krona One" pitchFamily="34" charset="0"/>
                <a:ea typeface="Krona One" pitchFamily="34" charset="-122"/>
                <a:cs typeface="Krona One" pitchFamily="34" charset="-120"/>
              </a:rPr>
              <a:t>Welcome to My Presentation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87380" y="3273227"/>
            <a:ext cx="6426039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By Harshad Teli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87380" y="3854847"/>
            <a:ext cx="6426039" cy="231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00" spc="14" kern="100" dirty="0">
                <a:solidFill>
                  <a:srgbClr val="FFFF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Class: MCA-I | Roll No: 15</a:t>
            </a:r>
            <a:endParaRPr lang="en-US" sz="1400" dirty="0"/>
          </a:p>
        </p:txBody>
      </p:sp>
    </p:spTree>
  </p:cSld>
  <p:clrMapOvr>
    <a:masterClrMapping/>
  </p:clrMapOvr>
  <p:transition spd="med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withGroup">
                            <p:stCondLst>
                              <p:cond delay="260"/>
                            </p:stCondLst>
                            <p:childTnLst>
                              <p:par>
                                <p:cTn id="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6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withGroup">
                            <p:stCondLst>
                              <p:cond delay="520"/>
                            </p:stCondLst>
                            <p:childTnLst>
                              <p:par>
                                <p:cTn id="1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withGroup">
                            <p:stCondLst>
                              <p:cond delay="780"/>
                            </p:stCondLst>
                            <p:childTnLst>
                              <p:par>
                                <p:cTn id="1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 autoUpdateAnimBg="0"/>
      <p:bldP spid="2" grpId="0" animBg="1" autoUpdateAnimBg="0"/>
      <p:bldP spid="4" grpId="0" animBg="1" autoUpdateAnimBg="0"/>
      <p:bldP spid="5" grpId="0" animBg="1" autoUpdateAnimBg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0972526" cy="496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3400" spc="-17" kern="100" dirty="0">
                <a:solidFill>
                  <a:srgbClr val="FFFFFF"/>
                </a:solidFill>
                <a:latin typeface="Krona One" pitchFamily="34" charset="0"/>
                <a:ea typeface="Krona One" pitchFamily="34" charset="-122"/>
                <a:cs typeface="Krona One" pitchFamily="34" charset="-120"/>
              </a:rPr>
              <a:t>What is Git?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09585" y="1636316"/>
            <a:ext cx="6309262" cy="31850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487680" indent="-487680">
              <a:lnSpc>
                <a:spcPct val="113000"/>
              </a:lnSpc>
              <a:buSzPct val="100000"/>
              <a:buChar char="•"/>
            </a:pPr>
            <a:r>
              <a:rPr lang="en-US" sz="24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A distributed version control system</a:t>
            </a:r>
            <a:endParaRPr lang="en-US" sz="2400" dirty="0"/>
          </a:p>
          <a:p>
            <a:pPr algn="l" marL="487680" indent="-487680">
              <a:lnSpc>
                <a:spcPct val="113000"/>
              </a:lnSpc>
              <a:buSzPct val="100000"/>
              <a:buChar char="•"/>
            </a:pPr>
            <a:r>
              <a:rPr lang="en-US" sz="24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Tracks changes in source code</a:t>
            </a:r>
            <a:endParaRPr lang="en-US" sz="2400" dirty="0"/>
          </a:p>
          <a:p>
            <a:pPr algn="l" marL="487680" indent="-487680">
              <a:lnSpc>
                <a:spcPct val="113000"/>
              </a:lnSpc>
              <a:buSzPct val="100000"/>
              <a:buChar char="•"/>
            </a:pPr>
            <a:r>
              <a:rPr lang="en-US" sz="24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Keeps different versions of a project</a:t>
            </a:r>
            <a:endParaRPr lang="en-US" sz="2400" dirty="0"/>
          </a:p>
          <a:p>
            <a:pPr algn="l" marL="487680" indent="-487680">
              <a:lnSpc>
                <a:spcPct val="113000"/>
              </a:lnSpc>
              <a:buSzPct val="100000"/>
              <a:buChar char="•"/>
            </a:pPr>
            <a:r>
              <a:rPr lang="en-US" sz="24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Supports collaboration between developers</a:t>
            </a:r>
            <a:endParaRPr lang="en-US" sz="2400" dirty="0"/>
          </a:p>
          <a:p>
            <a:pPr algn="l" marL="487680" indent="-487680">
              <a:lnSpc>
                <a:spcPct val="113000"/>
              </a:lnSpc>
              <a:buSzPct val="100000"/>
              <a:buChar char="•"/>
            </a:pPr>
            <a:r>
              <a:rPr lang="en-US" sz="24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Works locally and connects to remote repositories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75936" y="1407716"/>
            <a:ext cx="4206174" cy="4840684"/>
          </a:xfrm>
          <a:prstGeom prst="roundRect">
            <a:avLst>
              <a:gd name="adj" fmla="val 3623"/>
            </a:avLst>
          </a:prstGeom>
          <a:solidFill>
            <a:srgbClr val="1E1F66"/>
          </a:solidFill>
          <a:ln w="19050">
            <a:solidFill>
              <a:srgbClr val="2878FF"/>
            </a:solidFill>
            <a:prstDash val="solid"/>
          </a:ln>
          <a:effectLst>
            <a:outerShdw sx="100000" sy="100000" kx="0" ky="0" algn="bl" rotWithShape="0" blurRad="201930" dist="127" dir="16200000">
              <a:srgbClr val="2878ff">
                <a:alpha val="4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623580" y="3109020"/>
            <a:ext cx="3710887" cy="396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400" spc="-12" kern="100" dirty="0">
                <a:solidFill>
                  <a:srgbClr val="E6E9FF"/>
                </a:solidFill>
                <a:latin typeface="Lexend Medium" pitchFamily="34" charset="0"/>
                <a:ea typeface="Lexend Medium" pitchFamily="34" charset="-122"/>
                <a:cs typeface="Lexend Medium" pitchFamily="34" charset="-120"/>
              </a:rPr>
              <a:t>Workflow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623580" y="3724275"/>
            <a:ext cx="3710887" cy="82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24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Code → Add → Commit → Branch → Merge</a:t>
            </a:r>
            <a:endParaRPr lang="en-US" sz="2400" dirty="0"/>
          </a:p>
        </p:txBody>
      </p:sp>
    </p:spTree>
  </p:cSld>
  <p:clrMapOvr>
    <a:masterClrMapping/>
  </p:clrMapOvr>
  <p:transition spd="med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6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withGroup">
                            <p:stCondLst>
                              <p:cond delay="260"/>
                            </p:stCondLst>
                            <p:childTnLst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6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withGroup">
                            <p:stCondLst>
                              <p:cond delay="520"/>
                            </p:stCondLst>
                            <p:childTnLst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6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withGroup">
                            <p:stCondLst>
                              <p:cond delay="780"/>
                            </p:stCondLst>
                            <p:childTnLst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6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withGroup">
                            <p:stCondLst>
                              <p:cond delay="1040"/>
                            </p:stCondLst>
                            <p:childTnLst>
                              <p:par>
                                <p:cTn id="2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6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withGroup">
                            <p:stCondLst>
                              <p:cond delay="1300"/>
                            </p:stCondLst>
                            <p:childTnLst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6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withGroup">
                            <p:stCondLst>
                              <p:cond delay="1560"/>
                            </p:stCondLst>
                            <p:childTnLst>
                              <p:par>
                                <p:cTn id="2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withGroup">
                            <p:stCondLst>
                              <p:cond delay="1820"/>
                            </p:stCondLst>
                            <p:childTnLst>
                              <p:par>
                                <p:cTn id="3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 autoUpdateAnimBg="0"/>
      <p:bldP spid="3" grpId="0" animBg="1" autoUpdateAnimBg="0" build="p"/>
      <p:bldP spid="5" grpId="0" animBg="1" autoUpdateAnimBg="0"/>
      <p:bldP spid="6" grpId="0" animBg="1" autoUpdateAnimBg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1154212"/>
            <a:ext cx="10972526" cy="496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3400" spc="-17" kern="100" dirty="0">
                <a:solidFill>
                  <a:srgbClr val="FFFFFF"/>
                </a:solidFill>
                <a:latin typeface="Krona One" pitchFamily="34" charset="0"/>
                <a:ea typeface="Krona One" pitchFamily="34" charset="-122"/>
                <a:cs typeface="Krona One" pitchFamily="34" charset="-120"/>
              </a:rPr>
              <a:t>What is GitHub?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09585" y="2180927"/>
            <a:ext cx="6309262" cy="31088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487680" indent="-487680">
              <a:lnSpc>
                <a:spcPct val="113000"/>
              </a:lnSpc>
              <a:buSzPct val="100000"/>
              <a:buChar char="•"/>
            </a:pPr>
            <a:r>
              <a:rPr lang="en-US" sz="24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A cloud-based platform for hosting Git repositories</a:t>
            </a:r>
            <a:endParaRPr lang="en-US" sz="2400" dirty="0"/>
          </a:p>
          <a:p>
            <a:pPr algn="l" marL="487680" indent="-487680">
              <a:lnSpc>
                <a:spcPct val="113000"/>
              </a:lnSpc>
              <a:buSzPct val="100000"/>
              <a:buChar char="•"/>
            </a:pPr>
            <a:r>
              <a:rPr lang="en-US" sz="24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Stores projects online</a:t>
            </a:r>
            <a:endParaRPr lang="en-US" sz="2400" dirty="0"/>
          </a:p>
          <a:p>
            <a:pPr algn="l" marL="487680" indent="-487680">
              <a:lnSpc>
                <a:spcPct val="113000"/>
              </a:lnSpc>
              <a:buSzPct val="100000"/>
              <a:buChar char="•"/>
            </a:pPr>
            <a:r>
              <a:rPr lang="en-US" sz="24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Supports collaboration, Pull Requests, Issues and Code Review</a:t>
            </a:r>
            <a:endParaRPr lang="en-US" sz="2400" dirty="0"/>
          </a:p>
          <a:p>
            <a:pPr algn="l" marL="487680" indent="-487680">
              <a:lnSpc>
                <a:spcPct val="113000"/>
              </a:lnSpc>
              <a:buSzPct val="100000"/>
              <a:buChar char="•"/>
            </a:pPr>
            <a:r>
              <a:rPr lang="en-US" sz="24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Widely used for open-source development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75936" y="1952327"/>
            <a:ext cx="4206174" cy="3751362"/>
          </a:xfrm>
          <a:prstGeom prst="roundRect">
            <a:avLst>
              <a:gd name="adj" fmla="val 4062"/>
            </a:avLst>
          </a:prstGeom>
          <a:solidFill>
            <a:srgbClr val="1E1F66"/>
          </a:solidFill>
          <a:ln w="19050">
            <a:solidFill>
              <a:srgbClr val="2878FF"/>
            </a:solidFill>
            <a:prstDash val="solid"/>
          </a:ln>
          <a:effectLst>
            <a:outerShdw sx="100000" sy="100000" kx="0" ky="0" algn="bl" rotWithShape="0" blurRad="201930" dist="127" dir="16200000">
              <a:srgbClr val="2878ff">
                <a:alpha val="4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623580" y="2199977"/>
            <a:ext cx="3958531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spc="78" kern="100" dirty="0">
                <a:solidFill>
                  <a:srgbClr val="E6E9FF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-120"/>
              </a:rPr>
              <a:t>FLOW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623580" y="2575818"/>
            <a:ext cx="3710887" cy="28802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24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Developer</a:t>
            </a:r>
            <a:endParaRPr lang="en-US" sz="2400" dirty="0"/>
          </a:p>
          <a:p>
            <a:pPr algn="l" indent="0" marL="0">
              <a:lnSpc>
                <a:spcPct val="113000"/>
              </a:lnSpc>
              <a:buNone/>
            </a:pPr>
            <a:r>
              <a:rPr lang="en-US" sz="24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↓</a:t>
            </a:r>
            <a:endParaRPr lang="en-US" sz="2400" dirty="0"/>
          </a:p>
          <a:p>
            <a:pPr algn="l" indent="0" marL="0">
              <a:lnSpc>
                <a:spcPct val="113000"/>
              </a:lnSpc>
              <a:buNone/>
            </a:pPr>
            <a:r>
              <a:rPr lang="en-US" sz="24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Git Repository</a:t>
            </a:r>
            <a:endParaRPr lang="en-US" sz="2400" dirty="0"/>
          </a:p>
          <a:p>
            <a:pPr algn="l" indent="0" marL="0">
              <a:lnSpc>
                <a:spcPct val="113000"/>
              </a:lnSpc>
              <a:buNone/>
            </a:pPr>
            <a:r>
              <a:rPr lang="en-US" sz="24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↓</a:t>
            </a:r>
            <a:endParaRPr lang="en-US" sz="2400" dirty="0"/>
          </a:p>
          <a:p>
            <a:pPr algn="l" indent="0" marL="0">
              <a:lnSpc>
                <a:spcPct val="113000"/>
              </a:lnSpc>
              <a:buNone/>
            </a:pPr>
            <a:r>
              <a:rPr lang="en-US" sz="24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GitHub</a:t>
            </a:r>
            <a:endParaRPr lang="en-US" sz="2400" dirty="0"/>
          </a:p>
          <a:p>
            <a:pPr algn="l" indent="0" marL="0">
              <a:lnSpc>
                <a:spcPct val="113000"/>
              </a:lnSpc>
              <a:buNone/>
            </a:pPr>
            <a:r>
              <a:rPr lang="en-US" sz="24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↓</a:t>
            </a:r>
            <a:endParaRPr lang="en-US" sz="2400" dirty="0"/>
          </a:p>
          <a:p>
            <a:pPr algn="l" indent="0" marL="0">
              <a:lnSpc>
                <a:spcPct val="113000"/>
              </a:lnSpc>
              <a:buNone/>
            </a:pPr>
            <a:r>
              <a:rPr lang="en-US" sz="24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Collaboration</a:t>
            </a:r>
            <a:endParaRPr lang="en-US" sz="2400" dirty="0"/>
          </a:p>
        </p:txBody>
      </p:sp>
    </p:spTree>
  </p:cSld>
  <p:clrMapOvr>
    <a:masterClrMapping/>
  </p:clrMapOvr>
  <p:transition spd="med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6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withGroup">
                            <p:stCondLst>
                              <p:cond delay="260"/>
                            </p:stCondLst>
                            <p:childTnLst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6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withGroup">
                            <p:stCondLst>
                              <p:cond delay="520"/>
                            </p:stCondLst>
                            <p:childTnLst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6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withGroup">
                            <p:stCondLst>
                              <p:cond delay="780"/>
                            </p:stCondLst>
                            <p:childTnLst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6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withGroup">
                            <p:stCondLst>
                              <p:cond delay="1040"/>
                            </p:stCondLst>
                            <p:childTnLst>
                              <p:par>
                                <p:cTn id="2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6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withGroup">
                            <p:stCondLst>
                              <p:cond delay="1300"/>
                            </p:stCondLst>
                            <p:childTnLst>
                              <p:par>
                                <p:cTn id="2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withGroup">
                            <p:stCondLst>
                              <p:cond delay="1560"/>
                            </p:stCondLst>
                            <p:childTnLst>
                              <p:par>
                                <p:cTn id="2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 autoUpdateAnimBg="0"/>
      <p:bldP spid="3" grpId="0" animBg="1" autoUpdateAnimBg="0" build="p"/>
      <p:bldP spid="5" grpId="0" animBg="1" autoUpdateAnimBg="0"/>
      <p:bldP spid="6" grpId="0" animBg="1" autoUpdateAnimBg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1003102"/>
            <a:ext cx="10972526" cy="496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3400" spc="-17" kern="100" dirty="0">
                <a:solidFill>
                  <a:srgbClr val="FFFFFF"/>
                </a:solidFill>
                <a:latin typeface="Krona One" pitchFamily="34" charset="0"/>
                <a:ea typeface="Krona One" pitchFamily="34" charset="-122"/>
                <a:cs typeface="Krona One" pitchFamily="34" charset="-120"/>
              </a:rPr>
              <a:t>What is GitLab?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09585" y="2029817"/>
            <a:ext cx="6309262" cy="35964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487680" indent="-487680">
              <a:lnSpc>
                <a:spcPct val="113000"/>
              </a:lnSpc>
              <a:buSzPct val="100000"/>
              <a:buChar char="•"/>
            </a:pPr>
            <a:r>
              <a:rPr lang="en-US" sz="24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A DevSecOps and software development platform</a:t>
            </a:r>
            <a:endParaRPr lang="en-US" sz="2400" dirty="0"/>
          </a:p>
          <a:p>
            <a:pPr algn="l" marL="487680" indent="-487680">
              <a:lnSpc>
                <a:spcPct val="113000"/>
              </a:lnSpc>
              <a:buSzPct val="100000"/>
              <a:buChar char="•"/>
            </a:pPr>
            <a:r>
              <a:rPr lang="en-US" sz="24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Provides Git repository management</a:t>
            </a:r>
            <a:endParaRPr lang="en-US" sz="2400" dirty="0"/>
          </a:p>
          <a:p>
            <a:pPr algn="l" marL="487680" indent="-487680">
              <a:lnSpc>
                <a:spcPct val="113000"/>
              </a:lnSpc>
              <a:buSzPct val="100000"/>
              <a:buChar char="•"/>
            </a:pPr>
            <a:r>
              <a:rPr lang="en-US" sz="24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Supports collaboration and code review</a:t>
            </a:r>
            <a:endParaRPr lang="en-US" sz="2400" dirty="0"/>
          </a:p>
          <a:p>
            <a:pPr algn="l" marL="487680" indent="-487680">
              <a:lnSpc>
                <a:spcPct val="113000"/>
              </a:lnSpc>
              <a:buSzPct val="100000"/>
              <a:buChar char="•"/>
            </a:pPr>
            <a:r>
              <a:rPr lang="en-US" sz="24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Provides CI/CD automation</a:t>
            </a:r>
            <a:endParaRPr lang="en-US" sz="2400" dirty="0"/>
          </a:p>
          <a:p>
            <a:pPr algn="l" marL="487680" indent="-487680">
              <a:lnSpc>
                <a:spcPct val="113000"/>
              </a:lnSpc>
              <a:buSzPct val="100000"/>
              <a:buChar char="•"/>
            </a:pPr>
            <a:r>
              <a:rPr lang="en-US" sz="24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Helps manage the software development lifecycle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75936" y="1801217"/>
            <a:ext cx="4206174" cy="4053681"/>
          </a:xfrm>
          <a:prstGeom prst="roundRect">
            <a:avLst>
              <a:gd name="adj" fmla="val 3759"/>
            </a:avLst>
          </a:prstGeom>
          <a:solidFill>
            <a:srgbClr val="1E1F66"/>
          </a:solidFill>
          <a:ln w="19050">
            <a:solidFill>
              <a:srgbClr val="2878FF"/>
            </a:solidFill>
            <a:prstDash val="solid"/>
          </a:ln>
          <a:effectLst>
            <a:outerShdw sx="100000" sy="100000" kx="0" ky="0" algn="bl" rotWithShape="0" blurRad="201930" dist="127" dir="16200000">
              <a:srgbClr val="2878ff">
                <a:alpha val="4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623580" y="3194447"/>
            <a:ext cx="3958531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spc="78" kern="100" dirty="0">
                <a:solidFill>
                  <a:srgbClr val="E6E9FF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-120"/>
              </a:rPr>
              <a:t>PIPELINE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623580" y="3570287"/>
            <a:ext cx="3710887" cy="8913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6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Code → Build → Test → Deploy</a:t>
            </a:r>
            <a:endParaRPr lang="en-US" sz="2600" dirty="0"/>
          </a:p>
        </p:txBody>
      </p:sp>
    </p:spTree>
  </p:cSld>
  <p:clrMapOvr>
    <a:masterClrMapping/>
  </p:clrMapOvr>
  <p:transition spd="med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6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withGroup">
                            <p:stCondLst>
                              <p:cond delay="260"/>
                            </p:stCondLst>
                            <p:childTnLst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6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withGroup">
                            <p:stCondLst>
                              <p:cond delay="520"/>
                            </p:stCondLst>
                            <p:childTnLst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6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withGroup">
                            <p:stCondLst>
                              <p:cond delay="780"/>
                            </p:stCondLst>
                            <p:childTnLst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6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withGroup">
                            <p:stCondLst>
                              <p:cond delay="1040"/>
                            </p:stCondLst>
                            <p:childTnLst>
                              <p:par>
                                <p:cTn id="2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6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withGroup">
                            <p:stCondLst>
                              <p:cond delay="1300"/>
                            </p:stCondLst>
                            <p:childTnLst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6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withGroup">
                            <p:stCondLst>
                              <p:cond delay="1560"/>
                            </p:stCondLst>
                            <p:childTnLst>
                              <p:par>
                                <p:cTn id="2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withGroup">
                            <p:stCondLst>
                              <p:cond delay="1820"/>
                            </p:stCondLst>
                            <p:childTnLst>
                              <p:par>
                                <p:cTn id="3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 autoUpdateAnimBg="0"/>
      <p:bldP spid="3" grpId="0" animBg="1" autoUpdateAnimBg="0" build="p"/>
      <p:bldP spid="5" grpId="0" animBg="1" autoUpdateAnimBg="0"/>
      <p:bldP spid="6" grpId="0" animBg="1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0972526" cy="408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2800" spc="-14" kern="100" dirty="0">
                <a:solidFill>
                  <a:srgbClr val="FFFFFF"/>
                </a:solidFill>
                <a:latin typeface="Krona One" pitchFamily="34" charset="0"/>
                <a:ea typeface="Krona One" pitchFamily="34" charset="-122"/>
                <a:cs typeface="Krona One" pitchFamily="34" charset="-120"/>
              </a:rPr>
              <a:t>What is GitHub Copilot?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09585" y="1320105"/>
            <a:ext cx="11582110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spc="78" kern="100" dirty="0">
                <a:solidFill>
                  <a:srgbClr val="27E0E3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-120"/>
              </a:rPr>
              <a:t>"YOUR AI PAIR PROGRAMMER"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09585" y="1791196"/>
            <a:ext cx="6354901" cy="31088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487680" indent="-487680">
              <a:lnSpc>
                <a:spcPct val="113000"/>
              </a:lnSpc>
              <a:buSzPct val="100000"/>
              <a:buChar char="•"/>
            </a:pPr>
            <a:r>
              <a:rPr lang="en-US" sz="24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An AI-powered coding assistant that helps developers write code faster</a:t>
            </a:r>
            <a:endParaRPr lang="en-US" sz="2400" dirty="0"/>
          </a:p>
          <a:p>
            <a:pPr algn="l" marL="487680" indent="-487680">
              <a:lnSpc>
                <a:spcPct val="113000"/>
              </a:lnSpc>
              <a:buSzPct val="100000"/>
              <a:buChar char="•"/>
            </a:pPr>
            <a:r>
              <a:rPr lang="en-US" sz="24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Generates code from natural-language instructions</a:t>
            </a:r>
            <a:endParaRPr lang="en-US" sz="2400" dirty="0"/>
          </a:p>
          <a:p>
            <a:pPr algn="l" marL="487680" indent="-487680">
              <a:lnSpc>
                <a:spcPct val="113000"/>
              </a:lnSpc>
              <a:buSzPct val="100000"/>
              <a:buChar char="•"/>
            </a:pPr>
            <a:r>
              <a:rPr lang="en-US" sz="24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Suggests code inside supported development environments</a:t>
            </a:r>
            <a:endParaRPr lang="en-US" sz="2400" dirty="0"/>
          </a:p>
          <a:p>
            <a:pPr algn="l" marL="487680" indent="-487680">
              <a:lnSpc>
                <a:spcPct val="113000"/>
              </a:lnSpc>
              <a:buSzPct val="100000"/>
              <a:buChar char="•"/>
            </a:pPr>
            <a:r>
              <a:rPr lang="en-US" sz="24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Helps explain, modify and debug code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193080" y="1791196"/>
            <a:ext cx="4267093" cy="2416969"/>
          </a:xfrm>
          <a:prstGeom prst="roundRect">
            <a:avLst>
              <a:gd name="adj" fmla="val 6305"/>
            </a:avLst>
          </a:prstGeom>
          <a:noFill/>
          <a:ln w="19050">
            <a:solidFill>
              <a:srgbClr val="2878FF"/>
            </a:solidFill>
            <a:prstDash val="solid"/>
          </a:ln>
          <a:effectLst>
            <a:outerShdw sx="100000" sy="100000" kx="0" ky="0" algn="bl" rotWithShape="0" blurRad="201930" dist="127" dir="16200000">
              <a:srgbClr val="2878ff">
                <a:alpha val="40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93080" y="1791196"/>
            <a:ext cx="4267093" cy="241696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09585" y="5173067"/>
            <a:ext cx="10972526" cy="617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3000"/>
              </a:lnSpc>
              <a:buNone/>
            </a:pPr>
            <a:r>
              <a:rPr lang="en-US" sz="18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Developer Idea → GitHub Copilot → Code → Application</a:t>
            </a:r>
            <a:endParaRPr lang="en-US" sz="1800" dirty="0"/>
          </a:p>
          <a:p>
            <a:pPr algn="ctr" indent="0" marL="0">
              <a:lnSpc>
                <a:spcPct val="113000"/>
              </a:lnSpc>
              <a:buNone/>
            </a:pPr>
            <a:r>
              <a:rPr lang="en-US" sz="18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"Less Typing. More Building."</a:t>
            </a:r>
            <a:endParaRPr lang="en-US" sz="1800" dirty="0"/>
          </a:p>
        </p:txBody>
      </p:sp>
    </p:spTree>
  </p:cSld>
  <p:clrMapOvr>
    <a:masterClrMapping/>
  </p:clrMapOvr>
  <p:transition spd="med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6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withGroup">
                            <p:stCondLst>
                              <p:cond delay="260"/>
                            </p:stCondLst>
                            <p:childTnLst>
                              <p:par>
                                <p:cTn id="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withGroup">
                            <p:stCondLst>
                              <p:cond delay="520"/>
                            </p:stCondLst>
                            <p:childTnLst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withGroup">
                            <p:stCondLst>
                              <p:cond delay="780"/>
                            </p:stCondLst>
                            <p:childTnLst>
                              <p:par>
                                <p:cTn id="17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6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6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withGroup">
                            <p:stCondLst>
                              <p:cond delay="1040"/>
                            </p:stCondLst>
                            <p:childTnLst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 autoUpdateAnimBg="0"/>
      <p:bldP spid="3" grpId="0" animBg="1" autoUpdateAnimBg="0"/>
      <p:bldP spid="4" grpId="0" animBg="1" autoUpdateAnimBg="0"/>
      <p:bldP spid="7" grpId="0" animBg="1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87" y="304800"/>
            <a:ext cx="7365816" cy="3166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2150" spc="-11" kern="100" dirty="0">
                <a:solidFill>
                  <a:srgbClr val="FFFFFF"/>
                </a:solidFill>
                <a:latin typeface="Krona One" pitchFamily="34" charset="0"/>
                <a:ea typeface="Krona One" pitchFamily="34" charset="-122"/>
                <a:cs typeface="Krona One" pitchFamily="34" charset="-120"/>
              </a:rPr>
              <a:t>My Live Demonstration Workflow</a:t>
            </a:r>
            <a:endParaRPr lang="en-US" sz="2150" dirty="0"/>
          </a:p>
        </p:txBody>
      </p:sp>
      <p:sp>
        <p:nvSpPr>
          <p:cNvPr id="3" name="Shape 1"/>
          <p:cNvSpPr/>
          <p:nvPr/>
        </p:nvSpPr>
        <p:spPr>
          <a:xfrm>
            <a:off x="507987" y="802184"/>
            <a:ext cx="3530512" cy="2885877"/>
          </a:xfrm>
          <a:prstGeom prst="roundRect">
            <a:avLst>
              <a:gd name="adj" fmla="val 5281"/>
            </a:avLst>
          </a:prstGeom>
          <a:solidFill>
            <a:srgbClr val="1E1F66"/>
          </a:solidFill>
          <a:ln w="19050">
            <a:solidFill>
              <a:srgbClr val="2878FF"/>
            </a:solidFill>
            <a:prstDash val="solid"/>
          </a:ln>
          <a:effectLst>
            <a:outerShdw sx="100000" sy="100000" kx="0" ky="0" algn="bl" rotWithShape="0" blurRad="201930" dist="127" dir="16200000">
              <a:srgbClr val="2878ff">
                <a:alpha val="4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04832" y="999034"/>
            <a:ext cx="747297" cy="236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850" dirty="0">
                <a:solidFill>
                  <a:srgbClr val="69A1FF"/>
                </a:solidFill>
                <a:latin typeface="Krona One" pitchFamily="34" charset="0"/>
                <a:ea typeface="Krona One" pitchFamily="34" charset="-122"/>
                <a:cs typeface="Krona One" pitchFamily="34" charset="-120"/>
              </a:rPr>
              <a:t>1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704832" y="1309291"/>
            <a:ext cx="3136822" cy="3067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850" spc="-9" kern="100" dirty="0">
                <a:solidFill>
                  <a:srgbClr val="E6E9FF"/>
                </a:solidFill>
                <a:latin typeface="Lexend Medium" pitchFamily="34" charset="0"/>
                <a:ea typeface="Lexend Medium" pitchFamily="34" charset="-122"/>
                <a:cs typeface="Lexend Medium" pitchFamily="34" charset="-120"/>
              </a:rPr>
              <a:t>Build</a:t>
            </a:r>
            <a:endParaRPr lang="en-US" sz="1850" dirty="0"/>
          </a:p>
        </p:txBody>
      </p:sp>
      <p:sp>
        <p:nvSpPr>
          <p:cNvPr id="6" name="Text 4"/>
          <p:cNvSpPr/>
          <p:nvPr/>
        </p:nvSpPr>
        <p:spPr>
          <a:xfrm>
            <a:off x="704832" y="1747341"/>
            <a:ext cx="3333667" cy="2119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GitHub Copilot + VS Code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04832" y="2065834"/>
            <a:ext cx="3136822" cy="3579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00" spc="11" kern="1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Live Demo 1: Build a Small To-Do List Application</a:t>
            </a:r>
            <a:endParaRPr lang="en-US" sz="11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832" y="2530376"/>
            <a:ext cx="939776" cy="5286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04832" y="3133229"/>
            <a:ext cx="3136822" cy="3579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00" spc="11" kern="1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Prompt → Copilot suggestion → To-Do app → Run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343291" y="802184"/>
            <a:ext cx="3530512" cy="2885877"/>
          </a:xfrm>
          <a:prstGeom prst="roundRect">
            <a:avLst>
              <a:gd name="adj" fmla="val 5281"/>
            </a:avLst>
          </a:prstGeom>
          <a:solidFill>
            <a:srgbClr val="1E1F66"/>
          </a:solidFill>
          <a:ln w="19050">
            <a:solidFill>
              <a:srgbClr val="2878FF"/>
            </a:solidFill>
            <a:prstDash val="solid"/>
          </a:ln>
          <a:effectLst>
            <a:outerShdw sx="100000" sy="100000" kx="0" ky="0" algn="bl" rotWithShape="0" blurRad="201930" dist="127" dir="16200000">
              <a:srgbClr val="2878ff">
                <a:alpha val="4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4540136" y="999034"/>
            <a:ext cx="806628" cy="236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850" dirty="0">
                <a:solidFill>
                  <a:srgbClr val="69A1FF"/>
                </a:solidFill>
                <a:latin typeface="Krona One" pitchFamily="34" charset="0"/>
                <a:ea typeface="Krona One" pitchFamily="34" charset="-122"/>
                <a:cs typeface="Krona One" pitchFamily="34" charset="-120"/>
              </a:rPr>
              <a:t>2</a:t>
            </a:r>
            <a:endParaRPr lang="en-US" sz="1850" dirty="0"/>
          </a:p>
        </p:txBody>
      </p:sp>
      <p:sp>
        <p:nvSpPr>
          <p:cNvPr id="12" name="Text 9"/>
          <p:cNvSpPr/>
          <p:nvPr/>
        </p:nvSpPr>
        <p:spPr>
          <a:xfrm>
            <a:off x="4540136" y="1309291"/>
            <a:ext cx="3136822" cy="3067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850" spc="-9" kern="100" dirty="0">
                <a:solidFill>
                  <a:srgbClr val="E6E9FF"/>
                </a:solidFill>
                <a:latin typeface="Lexend Medium" pitchFamily="34" charset="0"/>
                <a:ea typeface="Lexend Medium" pitchFamily="34" charset="-122"/>
                <a:cs typeface="Lexend Medium" pitchFamily="34" charset="-120"/>
              </a:rPr>
              <a:t>Upload</a:t>
            </a:r>
            <a:endParaRPr lang="en-US" sz="1850" dirty="0"/>
          </a:p>
        </p:txBody>
      </p:sp>
      <p:sp>
        <p:nvSpPr>
          <p:cNvPr id="13" name="Text 10"/>
          <p:cNvSpPr/>
          <p:nvPr/>
        </p:nvSpPr>
        <p:spPr>
          <a:xfrm>
            <a:off x="4540136" y="1747341"/>
            <a:ext cx="3333667" cy="2119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Git Commands + GitHub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4540136" y="2065834"/>
            <a:ext cx="3136822" cy="6435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spcAft>
                <a:spcPts val="800"/>
              </a:spcAft>
              <a:buNone/>
            </a:pPr>
            <a:r>
              <a:rPr lang="en-US" sz="1100" spc="11" kern="1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Live Demo 2: Upload the Project to GitHub</a:t>
            </a:r>
            <a:endParaRPr lang="en-US" sz="11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100" spc="11" kern="1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Project → git init → git add → git commit → git remote → git push → GitHub repository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507987" y="3992860"/>
            <a:ext cx="7365816" cy="2885877"/>
          </a:xfrm>
          <a:prstGeom prst="roundRect">
            <a:avLst>
              <a:gd name="adj" fmla="val 5281"/>
            </a:avLst>
          </a:prstGeom>
          <a:solidFill>
            <a:srgbClr val="1E1F66"/>
          </a:solidFill>
          <a:ln w="19050">
            <a:solidFill>
              <a:srgbClr val="2878FF"/>
            </a:solidFill>
            <a:prstDash val="solid"/>
          </a:ln>
          <a:effectLst>
            <a:outerShdw sx="100000" sy="100000" kx="0" ky="0" algn="bl" rotWithShape="0" blurRad="201930" dist="127" dir="16200000">
              <a:srgbClr val="2878ff">
                <a:alpha val="40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704832" y="4189710"/>
            <a:ext cx="806628" cy="236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850" dirty="0">
                <a:solidFill>
                  <a:srgbClr val="69A1FF"/>
                </a:solidFill>
                <a:latin typeface="Krona One" pitchFamily="34" charset="0"/>
                <a:ea typeface="Krona One" pitchFamily="34" charset="-122"/>
                <a:cs typeface="Krona One" pitchFamily="34" charset="-120"/>
              </a:rPr>
              <a:t>3</a:t>
            </a:r>
            <a:endParaRPr lang="en-US" sz="1850" dirty="0"/>
          </a:p>
        </p:txBody>
      </p:sp>
      <p:sp>
        <p:nvSpPr>
          <p:cNvPr id="17" name="Text 14"/>
          <p:cNvSpPr/>
          <p:nvPr/>
        </p:nvSpPr>
        <p:spPr>
          <a:xfrm>
            <a:off x="704832" y="4499967"/>
            <a:ext cx="6972126" cy="3067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850" spc="-9" kern="100" dirty="0">
                <a:solidFill>
                  <a:srgbClr val="E6E9FF"/>
                </a:solidFill>
                <a:latin typeface="Lexend Medium" pitchFamily="34" charset="0"/>
                <a:ea typeface="Lexend Medium" pitchFamily="34" charset="-122"/>
                <a:cs typeface="Lexend Medium" pitchFamily="34" charset="-120"/>
              </a:rPr>
              <a:t>Explore</a:t>
            </a:r>
            <a:endParaRPr lang="en-US" sz="1850" dirty="0"/>
          </a:p>
        </p:txBody>
      </p:sp>
      <p:sp>
        <p:nvSpPr>
          <p:cNvPr id="18" name="Text 15"/>
          <p:cNvSpPr/>
          <p:nvPr/>
        </p:nvSpPr>
        <p:spPr>
          <a:xfrm>
            <a:off x="704832" y="4938018"/>
            <a:ext cx="7168971" cy="2119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GitLab Interface + Environment Setup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704832" y="5256510"/>
            <a:ext cx="6972126" cy="4645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spcAft>
                <a:spcPts val="800"/>
              </a:spcAft>
              <a:buNone/>
            </a:pPr>
            <a:r>
              <a:rPr lang="en-US" sz="1100" spc="11" kern="1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Live Demo 3: Explore GitLab Interface and Environment Setup</a:t>
            </a:r>
            <a:endParaRPr lang="en-US" sz="11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100" spc="11" kern="1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GitLab → New Project → Repository → Environment Setup → Project Dashboard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8127797" y="0"/>
            <a:ext cx="4063898" cy="6858000"/>
          </a:xfrm>
          <a:prstGeom prst="roundRect">
            <a:avLst>
              <a:gd name="adj" fmla="val 3750"/>
            </a:avLst>
          </a:prstGeom>
          <a:solidFill>
            <a:srgbClr val="1E1F66"/>
          </a:solidFill>
          <a:ln w="19050">
            <a:solidFill>
              <a:srgbClr val="2878FF"/>
            </a:solidFill>
            <a:prstDash val="solid"/>
          </a:ln>
          <a:effectLst>
            <a:outerShdw sx="100000" sy="100000" kx="0" ky="0" algn="bl" rotWithShape="0" blurRad="201930" dist="127" dir="16200000">
              <a:srgbClr val="2878ff">
                <a:alpha val="40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8400840" y="323850"/>
            <a:ext cx="3790855" cy="1532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spc="60" kern="100" dirty="0">
                <a:solidFill>
                  <a:srgbClr val="E6E9FF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-120"/>
              </a:rPr>
              <a:t>COMMANDS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8400840" y="742652"/>
            <a:ext cx="3263818" cy="3115270"/>
          </a:xfrm>
          <a:prstGeom prst="roundRect">
            <a:avLst>
              <a:gd name="adj" fmla="val 3182"/>
            </a:avLst>
          </a:prstGeom>
          <a:solidFill>
            <a:srgbClr val="1E1F66"/>
          </a:solidFill>
          <a:ln/>
        </p:spPr>
      </p:sp>
      <p:sp>
        <p:nvSpPr>
          <p:cNvPr id="23" name="Text 20"/>
          <p:cNvSpPr/>
          <p:nvPr/>
        </p:nvSpPr>
        <p:spPr>
          <a:xfrm>
            <a:off x="8684003" y="978595"/>
            <a:ext cx="2697492" cy="26433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init</a:t>
            </a:r>
            <a:endParaRPr lang="en-US" sz="18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add .</a:t>
            </a:r>
            <a:endParaRPr lang="en-US" sz="18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commit -m "Initial commit"</a:t>
            </a:r>
            <a:endParaRPr lang="en-US" sz="18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remote add origin &lt;repository-url&gt;</a:t>
            </a:r>
            <a:endParaRPr lang="en-US" sz="18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push -u origin main</a:t>
            </a:r>
            <a:endParaRPr lang="en-US" sz="1850" dirty="0"/>
          </a:p>
        </p:txBody>
      </p:sp>
    </p:spTree>
  </p:cSld>
  <p:clrMapOvr>
    <a:masterClrMapping/>
  </p:clrMapOvr>
  <p:transition spd="med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6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withGroup">
                            <p:stCondLst>
                              <p:cond delay="162"/>
                            </p:stCondLst>
                            <p:childTnLst>
                              <p:par>
                                <p:cTn id="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6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withGroup">
                            <p:stCondLst>
                              <p:cond delay="324"/>
                            </p:stCondLst>
                            <p:childTnLst>
                              <p:par>
                                <p:cTn id="1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withGroup">
                            <p:stCondLst>
                              <p:cond delay="486"/>
                            </p:stCondLst>
                            <p:childTnLst>
                              <p:par>
                                <p:cTn id="1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withGroup">
                            <p:stCondLst>
                              <p:cond delay="648"/>
                            </p:stCondLst>
                            <p:childTnLst>
                              <p:par>
                                <p:cTn id="2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6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withGroup">
                            <p:stCondLst>
                              <p:cond delay="810"/>
                            </p:stCondLst>
                            <p:childTnLst>
                              <p:par>
                                <p:cTn id="2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withGroup">
                            <p:stCondLst>
                              <p:cond delay="972"/>
                            </p:stCondLst>
                            <p:childTnLst>
                              <p:par>
                                <p:cTn id="2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withGroup">
                            <p:stCondLst>
                              <p:cond delay="1134"/>
                            </p:stCondLst>
                            <p:childTnLst>
                              <p:par>
                                <p:cTn id="3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withGroup">
                            <p:stCondLst>
                              <p:cond delay="1296"/>
                            </p:stCondLst>
                            <p:childTnLst>
                              <p:par>
                                <p:cTn id="3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withGroup">
                            <p:stCondLst>
                              <p:cond delay="1458"/>
                            </p:stCondLst>
                            <p:childTnLst>
                              <p:par>
                                <p:cTn id="4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 nodeType="withGroup">
                            <p:stCondLst>
                              <p:cond delay="1620"/>
                            </p:stCondLst>
                            <p:childTnLst>
                              <p:par>
                                <p:cTn id="4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 nodeType="withGroup">
                            <p:stCondLst>
                              <p:cond delay="1782"/>
                            </p:stCondLst>
                            <p:childTnLst>
                              <p:par>
                                <p:cTn id="49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6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6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 nodeType="withGroup">
                            <p:stCondLst>
                              <p:cond delay="1944"/>
                            </p:stCondLst>
                            <p:childTnLst>
                              <p:par>
                                <p:cTn id="5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6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 nodeType="withGroup">
                            <p:stCondLst>
                              <p:cond delay="2106"/>
                            </p:stCondLst>
                            <p:childTnLst>
                              <p:par>
                                <p:cTn id="5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0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 nodeType="withGroup">
                            <p:stCondLst>
                              <p:cond delay="2268"/>
                            </p:stCondLst>
                            <p:childTnLst>
                              <p:par>
                                <p:cTn id="6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4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 nodeType="withGroup">
                            <p:stCondLst>
                              <p:cond delay="2430"/>
                            </p:stCondLst>
                            <p:childTnLst>
                              <p:par>
                                <p:cTn id="6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8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 nodeType="withGroup">
                            <p:stCondLst>
                              <p:cond delay="2592"/>
                            </p:stCondLst>
                            <p:childTnLst>
                              <p:par>
                                <p:cTn id="7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6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 autoUpdateAnimBg="0"/>
      <p:bldP spid="21" grpId="0" animBg="1" autoUpdateAnimBg="0"/>
      <p:bldP spid="4" grpId="0" animBg="1" autoUpdateAnimBg="0"/>
      <p:bldP spid="11" grpId="0" animBg="1" autoUpdateAnimBg="0"/>
      <p:bldP spid="23" grpId="0" animBg="1" autoUpdateAnimBg="0"/>
      <p:bldP spid="5" grpId="0" animBg="1" autoUpdateAnimBg="0"/>
      <p:bldP spid="12" grpId="0" animBg="1" autoUpdateAnimBg="0"/>
      <p:bldP spid="6" grpId="0" animBg="1" autoUpdateAnimBg="0"/>
      <p:bldP spid="13" grpId="0" animBg="1" autoUpdateAnimBg="0"/>
      <p:bldP spid="7" grpId="0" animBg="1" autoUpdateAnimBg="0"/>
      <p:bldP spid="14" grpId="0" animBg="1" autoUpdateAnimBg="0"/>
      <p:bldP spid="9" grpId="0" animBg="1" autoUpdateAnimBg="0"/>
      <p:bldP spid="16" grpId="0" animBg="1" autoUpdateAnimBg="0"/>
      <p:bldP spid="17" grpId="0" animBg="1" autoUpdateAnimBg="0"/>
      <p:bldP spid="18" grpId="0" animBg="1" autoUpdateAnimBg="0"/>
      <p:bldP spid="19" grpId="0" animBg="1" autoUpdateAnimBg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2245320"/>
            <a:ext cx="6908627" cy="630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4600" spc="-46" kern="100" dirty="0">
                <a:solidFill>
                  <a:srgbClr val="FFFFFF"/>
                </a:solidFill>
                <a:latin typeface="Krona One" pitchFamily="34" charset="0"/>
                <a:ea typeface="Krona One" pitchFamily="34" charset="-122"/>
                <a:cs typeface="Krona One" pitchFamily="34" charset="-120"/>
              </a:rPr>
              <a:t>Thank You</a:t>
            </a:r>
            <a:endParaRPr lang="en-US" sz="4600" dirty="0"/>
          </a:p>
        </p:txBody>
      </p:sp>
      <p:sp>
        <p:nvSpPr>
          <p:cNvPr id="3" name="Text 1"/>
          <p:cNvSpPr/>
          <p:nvPr/>
        </p:nvSpPr>
        <p:spPr>
          <a:xfrm>
            <a:off x="609585" y="3149302"/>
            <a:ext cx="6908627" cy="396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400" spc="-12" kern="100" dirty="0">
                <a:solidFill>
                  <a:srgbClr val="E6E9FF"/>
                </a:solidFill>
                <a:latin typeface="Lexend Medium" pitchFamily="34" charset="0"/>
                <a:ea typeface="Lexend Medium" pitchFamily="34" charset="-122"/>
                <a:cs typeface="Lexend Medium" pitchFamily="34" charset="-120"/>
              </a:rPr>
              <a:t>Questions?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09585" y="3764558"/>
            <a:ext cx="6908627" cy="617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8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GitHub Copilot</a:t>
            </a:r>
            <a:endParaRPr lang="en-US" sz="1800" dirty="0"/>
          </a:p>
          <a:p>
            <a:pPr algn="l" indent="0" marL="0">
              <a:lnSpc>
                <a:spcPct val="113000"/>
              </a:lnSpc>
              <a:buNone/>
            </a:pPr>
            <a:r>
              <a:rPr lang="en-US" sz="18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Your AI Pair Programmer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09585" y="6017419"/>
            <a:ext cx="7518212" cy="231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00" spc="14" kern="100" dirty="0">
                <a:solidFill>
                  <a:srgbClr val="B9BEEA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Harshad Teli | MCA-I | Roll No: 15</a:t>
            </a:r>
            <a:endParaRPr lang="en-US" sz="14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37381" y="2006600"/>
            <a:ext cx="2844729" cy="2844800"/>
          </a:xfrm>
          <a:prstGeom prst="rect">
            <a:avLst/>
          </a:prstGeom>
        </p:spPr>
      </p:pic>
    </p:spTree>
  </p:cSld>
  <p:clrMapOvr>
    <a:masterClrMapping/>
  </p:clrMapOvr>
  <p:transition spd="med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6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withGroup">
                            <p:stCondLst>
                              <p:cond delay="260"/>
                            </p:stCondLst>
                            <p:childTnLst>
                              <p:par>
                                <p:cTn id="9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6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6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withGroup">
                            <p:stCondLst>
                              <p:cond delay="520"/>
                            </p:stCondLst>
                            <p:childTnLst>
                              <p:par>
                                <p:cTn id="1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withGroup">
                            <p:stCondLst>
                              <p:cond delay="780"/>
                            </p:stCondLst>
                            <p:childTnLst>
                              <p:par>
                                <p:cTn id="1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withGroup">
                            <p:stCondLst>
                              <p:cond delay="1040"/>
                            </p:stCondLst>
                            <p:childTnLst>
                              <p:par>
                                <p:cTn id="2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 autoUpdateAnimBg="0"/>
      <p:bldP spid="3" grpId="0" animBg="1" autoUpdateAnimBg="0"/>
      <p:bldP spid="4" grpId="0" animBg="1" autoUpdateAnimBg="0"/>
      <p:bldP spid="5" grpId="0" animBg="1" autoUpdateAnimBg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2026-10-06T05:32:11Z</dcterms:created>
  <dcterms:modified xsi:type="dcterms:W3CDTF">2026-10-06T05:32:11Z</dcterms:modified>
</cp:coreProperties>
</file>